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  <Relationship Id="rId10" Type="http://schemas.openxmlformats.org/officeDocument/2006/relationships/slide" Target="slides/slide1.xml"/>
  <Relationship Id="rId11" Type="http://schemas.openxmlformats.org/officeDocument/2006/relationships/slide" Target="slides/slide2.xml"/>
  <Relationship Id="rId12" Type="http://schemas.openxmlformats.org/officeDocument/2006/relationships/slide" Target="slides/slide3.xml"/>
  <Relationship Id="rId13" Type="http://schemas.openxmlformats.org/officeDocument/2006/relationships/slide" Target="slides/slide4.xml"/>
  <Relationship Id="rId14" Type="http://schemas.openxmlformats.org/officeDocument/2006/relationships/slide" Target="slides/slide5.xml"/>
  <Relationship Id="rId15" Type="http://schemas.openxmlformats.org/officeDocument/2006/relationships/slide" Target="slides/slide6.xml"/>
  <Relationship Id="rId16" Type="http://schemas.openxmlformats.org/officeDocument/2006/relationships/slide" Target="slides/slide7.xml"/>
  <Relationship Id="rId17" Type="http://schemas.openxmlformats.org/officeDocument/2006/relationships/slide" Target="slides/slide8.xml"/>
  <Relationship Id="rId10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600000" y="300000"/>
            <a:ext cx="10900000" cy="12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ru-RU" sz="2800" b="1" i="1" dirty="0">
                <a:solidFill>
                  <a:srgbClr val="F0D27A"/>
                </a:solidFill>
              </a:rPr>
              <a:t>«Предчувствую Тебя.</a:t>
            </a:r>
          </a:p>
          <a:p>
            <a:r>
              <a:rPr lang="ru-RU" sz="2800" b="1" i="1" dirty="0">
                <a:solidFill>
                  <a:srgbClr val="F0D27A"/>
                </a:solidFill>
              </a:rPr>
              <a:t>Года проходят мимо…»</a:t>
            </a:r>
          </a:p>
        </p:txBody>
      </p:sp>
      <!-- Body -->
      <p:sp>
        <p:nvSpPr>
          <p:cNvPr id="3" name="Body"/>
          <p:cNvSpPr>
            <a:spLocks noGrp="1"/>
          </p:cNvSpPr>
          <p:nvPr/>
        </p:nvSpPr>
        <p:spPr>
          <a:xfrm>
            <a:off x="600000" y="1600000"/>
            <a:ext cx="10900000" cy="4800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ru-RU" sz="1600" dirty="0"/>
              <a:t>А. А. Блок</a:t>
            </a:r>
          </a:p>
          <a:p>
            <a:r>
              <a:rPr lang="ru-RU" sz="1600" dirty="0"/>
              <a:t>Цикл «Стихи о Прекрасной Даме» (1901–1902)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Анализ стихотворения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600000" y="300000"/>
            <a:ext cx="10900000" cy="12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ru-RU" sz="2800" b="1" i="1" dirty="0">
                <a:solidFill>
                  <a:srgbClr val="F0D27A"/>
                </a:solidFill>
              </a:rPr>
              <a:t>Текст стихотворения</a:t>
            </a:r>
          </a:p>
        </p:txBody>
      </p:sp>
      <!-- Body -->
      <p:sp>
        <p:nvSpPr>
          <p:cNvPr id="3" name="Body"/>
          <p:cNvSpPr>
            <a:spLocks noGrp="1"/>
          </p:cNvSpPr>
          <p:nvPr/>
        </p:nvSpPr>
        <p:spPr>
          <a:xfrm>
            <a:off x="600000" y="1600000"/>
            <a:ext cx="10900000" cy="4800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ru-RU" sz="1600" dirty="0"/>
              <a:t>Предчувствую Тебя. Года проходят мимо —</a:t>
            </a:r>
          </a:p>
          <a:p>
            <a:r>
              <a:rPr lang="ru-RU" sz="1600" dirty="0"/>
              <a:t>Всё в облике одном предчувствую Тебя.</a:t>
            </a:r>
          </a:p>
          <a:p>
            <a:r>
              <a:rPr lang="ru-RU" sz="1600" dirty="0"/>
              <a:t>Весь горизонт в огне — и ясен нестерпимо,</a:t>
            </a:r>
          </a:p>
          <a:p>
            <a:r>
              <a:rPr lang="ru-RU" sz="1600" dirty="0"/>
              <a:t>И молча жду, — тоскуя и любя.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Весь горизонт в огне, и близко появленье,</a:t>
            </a:r>
          </a:p>
          <a:p>
            <a:r>
              <a:rPr lang="ru-RU" sz="1600" dirty="0"/>
              <a:t>Но страшно мне: изменишь облик Ты,</a:t>
            </a:r>
          </a:p>
          <a:p>
            <a:r>
              <a:rPr lang="ru-RU" sz="1600" dirty="0"/>
              <a:t>И дерзкое возбудишь подозренье,</a:t>
            </a:r>
          </a:p>
          <a:p>
            <a:r>
              <a:rPr lang="ru-RU" sz="1600" dirty="0"/>
              <a:t>Сменив в конце привычные черты.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О, как паду — и горестно, и низко,</a:t>
            </a:r>
          </a:p>
          <a:p>
            <a:r>
              <a:rPr lang="ru-RU" sz="1600" dirty="0"/>
              <a:t>Не одолев смертельныя мечты!</a:t>
            </a:r>
          </a:p>
          <a:p>
            <a:r>
              <a:rPr lang="ru-RU" sz="1600" dirty="0"/>
              <a:t>Как ясен горизонт! И лучезарность близко.</a:t>
            </a:r>
          </a:p>
          <a:p>
            <a:r>
              <a:rPr lang="ru-RU" sz="1600" dirty="0"/>
              <a:t>Но страшно мне: изменишь облик Ты.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1901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600000" y="300000"/>
            <a:ext cx="10900000" cy="12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ru-RU" sz="2800" b="1" i="1" dirty="0">
                <a:solidFill>
                  <a:srgbClr val="F0D27A"/>
                </a:solidFill>
              </a:rPr>
              <a:t>Идея произведения</a:t>
            </a:r>
          </a:p>
        </p:txBody>
      </p:sp>
      <!-- Body -->
      <p:sp>
        <p:nvSpPr>
          <p:cNvPr id="3" name="Body"/>
          <p:cNvSpPr>
            <a:spLocks noGrp="1"/>
          </p:cNvSpPr>
          <p:nvPr/>
        </p:nvSpPr>
        <p:spPr>
          <a:xfrm>
            <a:off x="600000" y="1600000"/>
            <a:ext cx="10900000" cy="4800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ru-RU" sz="1600" dirty="0"/>
              <a:t>Стихотворение — поэтический манифест раннего Блока, ключ ко всему циклу «Стихи о Прекрасной Даме».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Главная идея: мистическое предчувствие встречи с Вечной Женственностью — божественным идеалом — соединяется со страхом её земного воплощения, в котором небесный облик может исказиться.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Любовь у Блока — не земное чувство, а религиозное служение; лирический герой — рыцарь, монах, ждущий Откровения. Возлюбленная превращается в Идеал, в Святую.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600000" y="300000"/>
            <a:ext cx="10900000" cy="12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ru-RU" sz="2800" b="1" i="1" dirty="0">
                <a:solidFill>
                  <a:srgbClr val="F0D27A"/>
                </a:solidFill>
              </a:rPr>
              <a:t>Аргумент 1. Образ Прекрасной Дамы — мистический символ</a:t>
            </a:r>
          </a:p>
        </p:txBody>
      </p:sp>
      <!-- Body -->
      <p:sp>
        <p:nvSpPr>
          <p:cNvPr id="3" name="Body"/>
          <p:cNvSpPr>
            <a:spLocks noGrp="1"/>
          </p:cNvSpPr>
          <p:nvPr/>
        </p:nvSpPr>
        <p:spPr>
          <a:xfrm>
            <a:off x="600000" y="1600000"/>
            <a:ext cx="10900000" cy="4800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ru-RU" sz="1600" dirty="0"/>
              <a:t>• Местоимения «Тебя», «Ты» написаны с заглавной буквы — как обращение к Богу. Это не земная женщина, а воплощение Души Мира (идея Вл. Соловьёва).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• Строка «Всё в облике одном предчувствую Тебя» — герой видит Её во всём; образ растворён в мире.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• Приёмы: сакральная заглавная буква, повторы-заклинания, недоговорённость, символика.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Цитата: «Предчувствую Тебя. Года проходят мимо — / Всё в облике одном предчувствую Тебя».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600000" y="300000"/>
            <a:ext cx="10900000" cy="12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ru-RU" sz="2800" b="1" i="1" dirty="0">
                <a:solidFill>
                  <a:srgbClr val="F0D27A"/>
                </a:solidFill>
              </a:rPr>
              <a:t>Аргумент 2. Двоемирие: ожидание и страх</a:t>
            </a:r>
          </a:p>
        </p:txBody>
      </p:sp>
      <!-- Body -->
      <p:sp>
        <p:nvSpPr>
          <p:cNvPr id="3" name="Body"/>
          <p:cNvSpPr>
            <a:spLocks noGrp="1"/>
          </p:cNvSpPr>
          <p:nvPr/>
        </p:nvSpPr>
        <p:spPr>
          <a:xfrm>
            <a:off x="600000" y="1600000"/>
            <a:ext cx="10900000" cy="4800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ru-RU" sz="1600" dirty="0"/>
              <a:t>• Лирический герой одновременно жаждет встречи и боится её: «молча жду, — тоскуя и любя» — оксюморонное соединение чувств.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• Страх рождён предчувствием искажения идеала: «страшно мне: изменишь облик Ты».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• Приёмы: антитеза («ясен» — «страшно», «лучезарность» — «паду низко»), оксюморон, повтор-рефрен, нагнетающий тревогу.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Цитата: «И молча жду, — тоскуя и любя… / Но страшно мне: изменишь облик Ты».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600000" y="300000"/>
            <a:ext cx="10900000" cy="12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ru-RU" sz="2800" b="1" i="1" dirty="0">
                <a:solidFill>
                  <a:srgbClr val="F0D27A"/>
                </a:solidFill>
              </a:rPr>
              <a:t>Аргумент 3. Космический пейзаж как образ Откровения</a:t>
            </a:r>
          </a:p>
        </p:txBody>
      </p:sp>
      <!-- Body -->
      <p:sp>
        <p:nvSpPr>
          <p:cNvPr id="3" name="Body"/>
          <p:cNvSpPr>
            <a:spLocks noGrp="1"/>
          </p:cNvSpPr>
          <p:nvPr/>
        </p:nvSpPr>
        <p:spPr>
          <a:xfrm>
            <a:off x="600000" y="1600000"/>
            <a:ext cx="10900000" cy="4800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ru-RU" sz="1600" dirty="0"/>
              <a:t>• Пейзаж символический: «Весь горизонт в огне» — образ зари, апокалиптического света, грядущего явления Вечной Женственности.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• «Ясен нестерпимо» — оксюморон: свет настолько силён, что человек не выдерживает Откровения.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• Приёмы: цветопись (огонь, лучезарность), символ зари, анафора «Весь горизонт в огне», церковнославянизм «смертельныя» — молитвенная интонация.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Цитата: «Весь горизонт в огне — и ясен нестерпимо… / Как ясен горизонт! И лучезарность близко».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600000" y="300000"/>
            <a:ext cx="10900000" cy="12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ru-RU" sz="2800" b="1" i="1" dirty="0">
                <a:solidFill>
                  <a:srgbClr val="F0D27A"/>
                </a:solidFill>
              </a:rPr>
              <a:t>Заключение</a:t>
            </a:r>
          </a:p>
        </p:txBody>
      </p:sp>
      <!-- Body -->
      <p:sp>
        <p:nvSpPr>
          <p:cNvPr id="3" name="Body"/>
          <p:cNvSpPr>
            <a:spLocks noGrp="1"/>
          </p:cNvSpPr>
          <p:nvPr/>
        </p:nvSpPr>
        <p:spPr>
          <a:xfrm>
            <a:off x="600000" y="1600000"/>
            <a:ext cx="10900000" cy="4800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ru-RU" sz="1600" dirty="0"/>
              <a:t>Стихотворение «Предчувствую Тебя…» — квинтэссенция мировоззрения молодого Блока: мир — храм, любовь — служение, земная встреча — лишь отблеск вечного.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Через символику зари, сакральные местоимения, антитезу ожидания и страха поэт передаёт напряжённое предчувствие чуда — и трагическую неизбежность его земного искажения.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Идеи Блока живы и сегодня: каждый, кто по-настоящему любит, превращает любимого человека в свой идеал, ждёт его как чуда — и боится потерять.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!-- Title -->
      <p:sp>
        <p:nvSpPr>
          <p:cNvPr id="2" name="Title"/>
          <p:cNvSpPr>
            <a:spLocks noGrp="1"/>
          </p:cNvSpPr>
          <p:nvPr/>
        </p:nvSpPr>
        <p:spPr>
          <a:xfrm>
            <a:off x="600000" y="300000"/>
            <a:ext cx="10900000" cy="12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ru-RU" sz="2800" b="1" i="1" dirty="0">
                <a:solidFill>
                  <a:srgbClr val="F0D27A"/>
                </a:solidFill>
              </a:rPr>
              <a:t>Стихотворение собственного сочинения</a:t>
            </a:r>
          </a:p>
        </p:txBody>
      </p:sp>
      <!-- Body -->
      <p:sp>
        <p:nvSpPr>
          <p:cNvPr id="3" name="Body"/>
          <p:cNvSpPr>
            <a:spLocks noGrp="1"/>
          </p:cNvSpPr>
          <p:nvPr/>
        </p:nvSpPr>
        <p:spPr>
          <a:xfrm>
            <a:off x="600000" y="1600000"/>
            <a:ext cx="10900000" cy="4800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ru-RU" sz="1600" dirty="0"/>
              <a:t>В традициях цикла «Стихи о Прекрасной Даме»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[Здесь будет ваше стихотворение,</a:t>
            </a:r>
          </a:p>
          <a:p>
            <a:r>
              <a:rPr lang="ru-RU" sz="1600" dirty="0"/>
              <a:t>посвящённое возлюбленной,</a:t>
            </a:r>
          </a:p>
          <a:p>
            <a:r>
              <a:rPr lang="ru-RU" sz="1600" dirty="0"/>
              <a:t>написанное в духе А. А. Блока]</a:t>
            </a:r>
          </a:p>
          <a:p>
            <a:r>
              <a:rPr lang="ru-RU" sz="1600" dirty="0"/>
              <a:t/>
            </a:r>
          </a:p>
          <a:p>
            <a:r>
              <a:rPr lang="ru-RU" sz="1600" dirty="0"/>
              <a:t>(8–12 строк)</a:t>
            </a:r>
          </a:p>
        </p:txBody>
      </p:sp>
    </p:spTree>
  </p:cSld>
</p:sld>
</file>

<file path=ppt/theme/theme1.xml><?xml version="1.0" encoding="utf-8"?>
<a:theme xmlns:a="http://schemas.openxmlformats.org/drawingml/2006/main" name="BlokTheme">
  <a:themeElements>
    <a:clrScheme name="Blok">
      <a:dk1>
        <a:srgbClr val="1A1530"/>
      </a:dk1>
      <a:lt1>
        <a:srgbClr val="F5F1E8"/>
      </a:lt1>
      <a:dk2>
        <a:srgbClr val="2A1F4A"/>
      </a:dk2>
      <a:lt2>
        <a:srgbClr val="E0D4F5"/>
      </a:lt2>
      <a:accent1>
        <a:srgbClr val="F0D27A"/>
      </a:accent1>
      <a:accent2>
        <a:srgbClr val="D9A6C2"/>
      </a:accent2>
      <a:accent3>
        <a:srgbClr val="FFE8B0"/>
      </a:accent3>
      <a:accent4>
        <a:srgbClr val="B8ACD1"/>
      </a:accent4>
      <a:accent5>
        <a:srgbClr val="3A1F2E"/>
      </a:accent5>
      <a:accent6>
        <a:srgbClr val="F0D27A"/>
      </a:accent6>
      <a:hlink>
        <a:srgbClr val="F0D27A"/>
      </a:hlink>
      <a:folHlink>
        <a:srgbClr val="D9A6C2"/>
      </a:folHlink>
    </a:clrScheme>
    <a:fontScheme name="Blok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